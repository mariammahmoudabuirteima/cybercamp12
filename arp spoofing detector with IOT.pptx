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B04B46-9898-4538-953B-660A2999DC8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14A1B3-362C-4753-8F4C-29F378FDDE3B}">
      <dgm:prSet/>
      <dgm:spPr/>
      <dgm:t>
        <a:bodyPr/>
        <a:lstStyle/>
        <a:p>
          <a:r>
            <a:rPr lang="en-US" b="1"/>
            <a:t>Problem Statement</a:t>
          </a:r>
          <a:r>
            <a:rPr lang="en-US"/>
            <a:t>:</a:t>
          </a:r>
        </a:p>
      </dgm:t>
    </dgm:pt>
    <dgm:pt modelId="{62836043-305D-4699-ACCA-91D963B88926}" type="parTrans" cxnId="{B9C4D001-1DA9-4149-8590-AD8B1BA6A4EE}">
      <dgm:prSet/>
      <dgm:spPr/>
      <dgm:t>
        <a:bodyPr/>
        <a:lstStyle/>
        <a:p>
          <a:endParaRPr lang="en-US"/>
        </a:p>
      </dgm:t>
    </dgm:pt>
    <dgm:pt modelId="{6BC21EEE-B13F-45FF-AACD-5976E426DEE0}" type="sibTrans" cxnId="{B9C4D001-1DA9-4149-8590-AD8B1BA6A4EE}">
      <dgm:prSet/>
      <dgm:spPr/>
      <dgm:t>
        <a:bodyPr/>
        <a:lstStyle/>
        <a:p>
          <a:endParaRPr lang="en-US"/>
        </a:p>
      </dgm:t>
    </dgm:pt>
    <dgm:pt modelId="{3FA32961-6F20-4FEC-B8FD-C6D75E75346A}">
      <dgm:prSet/>
      <dgm:spPr/>
      <dgm:t>
        <a:bodyPr/>
        <a:lstStyle/>
        <a:p>
          <a:r>
            <a:rPr lang="en-US"/>
            <a:t>•ARP (Address Resolution Protocol) is essential for communication in local networks.</a:t>
          </a:r>
        </a:p>
      </dgm:t>
    </dgm:pt>
    <dgm:pt modelId="{30374370-C9AB-4E3E-A062-9AAC90CB7D7F}" type="parTrans" cxnId="{0EFC52DE-7B7C-4BB8-B1C5-BA9A3A82F106}">
      <dgm:prSet/>
      <dgm:spPr/>
      <dgm:t>
        <a:bodyPr/>
        <a:lstStyle/>
        <a:p>
          <a:endParaRPr lang="en-US"/>
        </a:p>
      </dgm:t>
    </dgm:pt>
    <dgm:pt modelId="{5CB1FE4F-9AF2-4B79-B5F0-B4FC3B590F76}" type="sibTrans" cxnId="{0EFC52DE-7B7C-4BB8-B1C5-BA9A3A82F106}">
      <dgm:prSet/>
      <dgm:spPr/>
      <dgm:t>
        <a:bodyPr/>
        <a:lstStyle/>
        <a:p>
          <a:endParaRPr lang="en-US"/>
        </a:p>
      </dgm:t>
    </dgm:pt>
    <dgm:pt modelId="{BCE00F09-E3F2-41F2-9110-16A261BFCBB8}">
      <dgm:prSet/>
      <dgm:spPr/>
      <dgm:t>
        <a:bodyPr/>
        <a:lstStyle/>
        <a:p>
          <a:r>
            <a:rPr lang="en-US"/>
            <a:t>•Attackers can send fake ARP packets to redirect network traffic, leading to data breaches and unauthorized access.</a:t>
          </a:r>
        </a:p>
      </dgm:t>
    </dgm:pt>
    <dgm:pt modelId="{8CE35A53-FD15-4EE5-A147-331FC1D412C9}" type="parTrans" cxnId="{A6355734-553E-4D6A-861C-2C5C1FAEF8CD}">
      <dgm:prSet/>
      <dgm:spPr/>
      <dgm:t>
        <a:bodyPr/>
        <a:lstStyle/>
        <a:p>
          <a:endParaRPr lang="en-US"/>
        </a:p>
      </dgm:t>
    </dgm:pt>
    <dgm:pt modelId="{F0DF19CD-3EB5-49EA-A11B-E535589E1CE4}" type="sibTrans" cxnId="{A6355734-553E-4D6A-861C-2C5C1FAEF8CD}">
      <dgm:prSet/>
      <dgm:spPr/>
      <dgm:t>
        <a:bodyPr/>
        <a:lstStyle/>
        <a:p>
          <a:endParaRPr lang="en-US"/>
        </a:p>
      </dgm:t>
    </dgm:pt>
    <dgm:pt modelId="{018A5C8F-0A00-42A3-A7D0-B1C68892362B}">
      <dgm:prSet/>
      <dgm:spPr/>
      <dgm:t>
        <a:bodyPr/>
        <a:lstStyle/>
        <a:p>
          <a:r>
            <a:rPr lang="en-US"/>
            <a:t>•IoT devices are particularly vulnerable due to their low computational power and lack of robust security solutions.</a:t>
          </a:r>
        </a:p>
      </dgm:t>
    </dgm:pt>
    <dgm:pt modelId="{4412A94F-277C-4387-AAB5-21B3736A6015}" type="parTrans" cxnId="{8B617409-5FBF-4FF3-81A3-549290D7C8BF}">
      <dgm:prSet/>
      <dgm:spPr/>
      <dgm:t>
        <a:bodyPr/>
        <a:lstStyle/>
        <a:p>
          <a:endParaRPr lang="en-US"/>
        </a:p>
      </dgm:t>
    </dgm:pt>
    <dgm:pt modelId="{15EFDDA9-29C8-4E6A-A6D8-8556EA830528}" type="sibTrans" cxnId="{8B617409-5FBF-4FF3-81A3-549290D7C8BF}">
      <dgm:prSet/>
      <dgm:spPr/>
      <dgm:t>
        <a:bodyPr/>
        <a:lstStyle/>
        <a:p>
          <a:endParaRPr lang="en-US"/>
        </a:p>
      </dgm:t>
    </dgm:pt>
    <dgm:pt modelId="{A786253B-138F-4808-BF67-744E4CD0F3D4}" type="pres">
      <dgm:prSet presAssocID="{6BB04B46-9898-4538-953B-660A2999DC8B}" presName="linear" presStyleCnt="0">
        <dgm:presLayoutVars>
          <dgm:animLvl val="lvl"/>
          <dgm:resizeHandles val="exact"/>
        </dgm:presLayoutVars>
      </dgm:prSet>
      <dgm:spPr/>
    </dgm:pt>
    <dgm:pt modelId="{44794DDB-A049-4F71-A30C-9D0B13F6C654}" type="pres">
      <dgm:prSet presAssocID="{C314A1B3-362C-4753-8F4C-29F378FDDE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3842883-F13C-4AFE-AC96-B57CDA88643F}" type="pres">
      <dgm:prSet presAssocID="{6BC21EEE-B13F-45FF-AACD-5976E426DEE0}" presName="spacer" presStyleCnt="0"/>
      <dgm:spPr/>
    </dgm:pt>
    <dgm:pt modelId="{37CFE93D-E6EB-4E9D-9C5A-0045BBD81D5B}" type="pres">
      <dgm:prSet presAssocID="{3FA32961-6F20-4FEC-B8FD-C6D75E75346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57D679-5AD6-4F2C-AA35-743780043621}" type="pres">
      <dgm:prSet presAssocID="{5CB1FE4F-9AF2-4B79-B5F0-B4FC3B590F76}" presName="spacer" presStyleCnt="0"/>
      <dgm:spPr/>
    </dgm:pt>
    <dgm:pt modelId="{095C3FC5-9CA9-4863-85C0-741473A70378}" type="pres">
      <dgm:prSet presAssocID="{BCE00F09-E3F2-41F2-9110-16A261BFCB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D7F101-E5EF-4AB8-9748-BA56BF0529BD}" type="pres">
      <dgm:prSet presAssocID="{F0DF19CD-3EB5-49EA-A11B-E535589E1CE4}" presName="spacer" presStyleCnt="0"/>
      <dgm:spPr/>
    </dgm:pt>
    <dgm:pt modelId="{1E7173DA-64C9-4612-84D5-D5CA602A2864}" type="pres">
      <dgm:prSet presAssocID="{018A5C8F-0A00-42A3-A7D0-B1C68892362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9C4D001-1DA9-4149-8590-AD8B1BA6A4EE}" srcId="{6BB04B46-9898-4538-953B-660A2999DC8B}" destId="{C314A1B3-362C-4753-8F4C-29F378FDDE3B}" srcOrd="0" destOrd="0" parTransId="{62836043-305D-4699-ACCA-91D963B88926}" sibTransId="{6BC21EEE-B13F-45FF-AACD-5976E426DEE0}"/>
    <dgm:cxn modelId="{8B617409-5FBF-4FF3-81A3-549290D7C8BF}" srcId="{6BB04B46-9898-4538-953B-660A2999DC8B}" destId="{018A5C8F-0A00-42A3-A7D0-B1C68892362B}" srcOrd="3" destOrd="0" parTransId="{4412A94F-277C-4387-AAB5-21B3736A6015}" sibTransId="{15EFDDA9-29C8-4E6A-A6D8-8556EA830528}"/>
    <dgm:cxn modelId="{A6355734-553E-4D6A-861C-2C5C1FAEF8CD}" srcId="{6BB04B46-9898-4538-953B-660A2999DC8B}" destId="{BCE00F09-E3F2-41F2-9110-16A261BFCBB8}" srcOrd="2" destOrd="0" parTransId="{8CE35A53-FD15-4EE5-A147-331FC1D412C9}" sibTransId="{F0DF19CD-3EB5-49EA-A11B-E535589E1CE4}"/>
    <dgm:cxn modelId="{DBD5563F-20EC-414C-8CF9-11F976D65587}" type="presOf" srcId="{018A5C8F-0A00-42A3-A7D0-B1C68892362B}" destId="{1E7173DA-64C9-4612-84D5-D5CA602A2864}" srcOrd="0" destOrd="0" presId="urn:microsoft.com/office/officeart/2005/8/layout/vList2"/>
    <dgm:cxn modelId="{B8473064-ECDF-4117-BEE7-BF9DC10F8DA4}" type="presOf" srcId="{C314A1B3-362C-4753-8F4C-29F378FDDE3B}" destId="{44794DDB-A049-4F71-A30C-9D0B13F6C654}" srcOrd="0" destOrd="0" presId="urn:microsoft.com/office/officeart/2005/8/layout/vList2"/>
    <dgm:cxn modelId="{71F66051-72A9-40E2-A5E6-94E9797B7215}" type="presOf" srcId="{3FA32961-6F20-4FEC-B8FD-C6D75E75346A}" destId="{37CFE93D-E6EB-4E9D-9C5A-0045BBD81D5B}" srcOrd="0" destOrd="0" presId="urn:microsoft.com/office/officeart/2005/8/layout/vList2"/>
    <dgm:cxn modelId="{3A56BB71-8779-4F3F-B83C-8176C71CA7F9}" type="presOf" srcId="{BCE00F09-E3F2-41F2-9110-16A261BFCBB8}" destId="{095C3FC5-9CA9-4863-85C0-741473A70378}" srcOrd="0" destOrd="0" presId="urn:microsoft.com/office/officeart/2005/8/layout/vList2"/>
    <dgm:cxn modelId="{C9424484-4B2B-4FFF-BC19-2083BE8439A7}" type="presOf" srcId="{6BB04B46-9898-4538-953B-660A2999DC8B}" destId="{A786253B-138F-4808-BF67-744E4CD0F3D4}" srcOrd="0" destOrd="0" presId="urn:microsoft.com/office/officeart/2005/8/layout/vList2"/>
    <dgm:cxn modelId="{0EFC52DE-7B7C-4BB8-B1C5-BA9A3A82F106}" srcId="{6BB04B46-9898-4538-953B-660A2999DC8B}" destId="{3FA32961-6F20-4FEC-B8FD-C6D75E75346A}" srcOrd="1" destOrd="0" parTransId="{30374370-C9AB-4E3E-A062-9AAC90CB7D7F}" sibTransId="{5CB1FE4F-9AF2-4B79-B5F0-B4FC3B590F76}"/>
    <dgm:cxn modelId="{6719C51C-9976-4DD1-BD8B-6CD9E510C6C0}" type="presParOf" srcId="{A786253B-138F-4808-BF67-744E4CD0F3D4}" destId="{44794DDB-A049-4F71-A30C-9D0B13F6C654}" srcOrd="0" destOrd="0" presId="urn:microsoft.com/office/officeart/2005/8/layout/vList2"/>
    <dgm:cxn modelId="{E699012A-C5BB-4DEE-B43F-9A4436BB6748}" type="presParOf" srcId="{A786253B-138F-4808-BF67-744E4CD0F3D4}" destId="{F3842883-F13C-4AFE-AC96-B57CDA88643F}" srcOrd="1" destOrd="0" presId="urn:microsoft.com/office/officeart/2005/8/layout/vList2"/>
    <dgm:cxn modelId="{E9A46651-7535-4CFC-825E-9B156C6EB05C}" type="presParOf" srcId="{A786253B-138F-4808-BF67-744E4CD0F3D4}" destId="{37CFE93D-E6EB-4E9D-9C5A-0045BBD81D5B}" srcOrd="2" destOrd="0" presId="urn:microsoft.com/office/officeart/2005/8/layout/vList2"/>
    <dgm:cxn modelId="{CDA1A5D3-3CE8-4E38-A587-E40C6D6066AD}" type="presParOf" srcId="{A786253B-138F-4808-BF67-744E4CD0F3D4}" destId="{4B57D679-5AD6-4F2C-AA35-743780043621}" srcOrd="3" destOrd="0" presId="urn:microsoft.com/office/officeart/2005/8/layout/vList2"/>
    <dgm:cxn modelId="{39F6DA5D-58D6-4CCA-8649-8F8A19BFFB0C}" type="presParOf" srcId="{A786253B-138F-4808-BF67-744E4CD0F3D4}" destId="{095C3FC5-9CA9-4863-85C0-741473A70378}" srcOrd="4" destOrd="0" presId="urn:microsoft.com/office/officeart/2005/8/layout/vList2"/>
    <dgm:cxn modelId="{A7388BD9-F59C-4E25-AFA9-9DE6667F5FBD}" type="presParOf" srcId="{A786253B-138F-4808-BF67-744E4CD0F3D4}" destId="{8FD7F101-E5EF-4AB8-9748-BA56BF0529BD}" srcOrd="5" destOrd="0" presId="urn:microsoft.com/office/officeart/2005/8/layout/vList2"/>
    <dgm:cxn modelId="{51693321-ECCD-40EA-B614-F4E4FE0A17EB}" type="presParOf" srcId="{A786253B-138F-4808-BF67-744E4CD0F3D4}" destId="{1E7173DA-64C9-4612-84D5-D5CA602A28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94E733-C074-4E48-ADEB-90020852C067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C16ADE3-7353-40D9-8895-6498ABEB7F7B}">
      <dgm:prSet/>
      <dgm:spPr/>
      <dgm:t>
        <a:bodyPr/>
        <a:lstStyle/>
        <a:p>
          <a:r>
            <a:rPr lang="en-US" b="1"/>
            <a:t>Research Contributions</a:t>
          </a:r>
          <a:r>
            <a:rPr lang="en-US"/>
            <a:t>:</a:t>
          </a:r>
        </a:p>
      </dgm:t>
    </dgm:pt>
    <dgm:pt modelId="{A9EEBA35-6A8A-449D-954B-791EB42A6B86}" type="parTrans" cxnId="{21D55EB1-3658-4FF9-B131-7BB7D7A9D848}">
      <dgm:prSet/>
      <dgm:spPr/>
      <dgm:t>
        <a:bodyPr/>
        <a:lstStyle/>
        <a:p>
          <a:endParaRPr lang="en-US"/>
        </a:p>
      </dgm:t>
    </dgm:pt>
    <dgm:pt modelId="{C17E9201-F775-40AD-B5CB-301AC7F81597}" type="sibTrans" cxnId="{21D55EB1-3658-4FF9-B131-7BB7D7A9D848}">
      <dgm:prSet/>
      <dgm:spPr/>
      <dgm:t>
        <a:bodyPr/>
        <a:lstStyle/>
        <a:p>
          <a:endParaRPr lang="en-US"/>
        </a:p>
      </dgm:t>
    </dgm:pt>
    <dgm:pt modelId="{467F397B-0DEF-430C-8B76-4D6DD066C9B1}">
      <dgm:prSet/>
      <dgm:spPr/>
      <dgm:t>
        <a:bodyPr/>
        <a:lstStyle/>
        <a:p>
          <a:r>
            <a:rPr lang="en-US" dirty="0"/>
            <a:t>•Development of ARP-PROBE, an ARP spoofing detection system based on a deep neural network (DNN).</a:t>
          </a:r>
        </a:p>
      </dgm:t>
    </dgm:pt>
    <dgm:pt modelId="{B846D66E-E686-414D-8352-060756B84E94}" type="parTrans" cxnId="{078D3125-88FD-49BC-A952-17E781FD51B7}">
      <dgm:prSet/>
      <dgm:spPr/>
      <dgm:t>
        <a:bodyPr/>
        <a:lstStyle/>
        <a:p>
          <a:endParaRPr lang="en-US"/>
        </a:p>
      </dgm:t>
    </dgm:pt>
    <dgm:pt modelId="{A2BFF2DE-5E30-4321-A1DC-EA19B88FB0CF}" type="sibTrans" cxnId="{078D3125-88FD-49BC-A952-17E781FD51B7}">
      <dgm:prSet/>
      <dgm:spPr/>
      <dgm:t>
        <a:bodyPr/>
        <a:lstStyle/>
        <a:p>
          <a:endParaRPr lang="en-US"/>
        </a:p>
      </dgm:t>
    </dgm:pt>
    <dgm:pt modelId="{29C26F3D-A8F0-468D-B72A-0910046E913C}">
      <dgm:prSet/>
      <dgm:spPr/>
      <dgm:t>
        <a:bodyPr/>
        <a:lstStyle/>
        <a:p>
          <a:r>
            <a:rPr lang="en-US"/>
            <a:t>•Implementation of SHAP (SHapley Additive exPlanations) to make the detection model interpretable and trustworthy.	</a:t>
          </a:r>
        </a:p>
      </dgm:t>
    </dgm:pt>
    <dgm:pt modelId="{2C650400-1C9B-4E51-8005-828D71E2D3E1}" type="parTrans" cxnId="{59730657-D8AD-492E-BAA4-623CF864B610}">
      <dgm:prSet/>
      <dgm:spPr/>
      <dgm:t>
        <a:bodyPr/>
        <a:lstStyle/>
        <a:p>
          <a:endParaRPr lang="en-US"/>
        </a:p>
      </dgm:t>
    </dgm:pt>
    <dgm:pt modelId="{4DEBF6DB-BEA6-4564-B724-5877E0773723}" type="sibTrans" cxnId="{59730657-D8AD-492E-BAA4-623CF864B610}">
      <dgm:prSet/>
      <dgm:spPr/>
      <dgm:t>
        <a:bodyPr/>
        <a:lstStyle/>
        <a:p>
          <a:endParaRPr lang="en-US"/>
        </a:p>
      </dgm:t>
    </dgm:pt>
    <dgm:pt modelId="{16A295E8-6C31-4BC8-8B8C-B82158CF7A94}">
      <dgm:prSet/>
      <dgm:spPr/>
      <dgm:t>
        <a:bodyPr/>
        <a:lstStyle/>
        <a:p>
          <a:r>
            <a:rPr lang="en-US" dirty="0"/>
            <a:t>Optimization of feature selection to ensure high accuracy while minimizing resource consumption.</a:t>
          </a:r>
        </a:p>
      </dgm:t>
    </dgm:pt>
    <dgm:pt modelId="{567D3573-C15F-42C7-8C10-25CC2A53E999}" type="parTrans" cxnId="{C24BC4EF-EF44-4368-B5FC-0878280F648E}">
      <dgm:prSet/>
      <dgm:spPr/>
      <dgm:t>
        <a:bodyPr/>
        <a:lstStyle/>
        <a:p>
          <a:endParaRPr lang="en-US"/>
        </a:p>
      </dgm:t>
    </dgm:pt>
    <dgm:pt modelId="{2E45D462-1D8B-4002-A855-21125C7ABECD}" type="sibTrans" cxnId="{C24BC4EF-EF44-4368-B5FC-0878280F648E}">
      <dgm:prSet/>
      <dgm:spPr/>
      <dgm:t>
        <a:bodyPr/>
        <a:lstStyle/>
        <a:p>
          <a:endParaRPr lang="en-US"/>
        </a:p>
      </dgm:t>
    </dgm:pt>
    <dgm:pt modelId="{D30DE1A7-F1E8-403A-BE1D-BDCFDD6C140B}" type="pres">
      <dgm:prSet presAssocID="{9E94E733-C074-4E48-ADEB-90020852C067}" presName="linear" presStyleCnt="0">
        <dgm:presLayoutVars>
          <dgm:animLvl val="lvl"/>
          <dgm:resizeHandles val="exact"/>
        </dgm:presLayoutVars>
      </dgm:prSet>
      <dgm:spPr/>
    </dgm:pt>
    <dgm:pt modelId="{A63C81D1-1531-4107-B258-1E752F087E3A}" type="pres">
      <dgm:prSet presAssocID="{DC16ADE3-7353-40D9-8895-6498ABEB7F7B}" presName="parentText" presStyleLbl="node1" presStyleIdx="0" presStyleCnt="4" custLinFactY="-156077" custLinFactNeighborX="-1264" custLinFactNeighborY="-200000">
        <dgm:presLayoutVars>
          <dgm:chMax val="0"/>
          <dgm:bulletEnabled val="1"/>
        </dgm:presLayoutVars>
      </dgm:prSet>
      <dgm:spPr/>
    </dgm:pt>
    <dgm:pt modelId="{68C87509-85AB-41C2-B587-9E9F05EDCFC8}" type="pres">
      <dgm:prSet presAssocID="{C17E9201-F775-40AD-B5CB-301AC7F81597}" presName="spacer" presStyleCnt="0"/>
      <dgm:spPr/>
    </dgm:pt>
    <dgm:pt modelId="{E32AC108-D940-4450-A676-49F929C936D1}" type="pres">
      <dgm:prSet presAssocID="{467F397B-0DEF-430C-8B76-4D6DD066C9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4D5918-15F4-4DF6-AAF1-9F9F9AEC119C}" type="pres">
      <dgm:prSet presAssocID="{A2BFF2DE-5E30-4321-A1DC-EA19B88FB0CF}" presName="spacer" presStyleCnt="0"/>
      <dgm:spPr/>
    </dgm:pt>
    <dgm:pt modelId="{29A14B1D-A001-422E-8E45-222767BEB4F6}" type="pres">
      <dgm:prSet presAssocID="{29C26F3D-A8F0-468D-B72A-0910046E91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09936B-7D31-4FDE-9D72-446D8728ADA3}" type="pres">
      <dgm:prSet presAssocID="{4DEBF6DB-BEA6-4564-B724-5877E0773723}" presName="spacer" presStyleCnt="0"/>
      <dgm:spPr/>
    </dgm:pt>
    <dgm:pt modelId="{D612BF71-4AB9-4FB3-AF6E-003DB46EF73F}" type="pres">
      <dgm:prSet presAssocID="{16A295E8-6C31-4BC8-8B8C-B82158CF7A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96900E-0983-455F-8173-3DDBB149E8FC}" type="presOf" srcId="{16A295E8-6C31-4BC8-8B8C-B82158CF7A94}" destId="{D612BF71-4AB9-4FB3-AF6E-003DB46EF73F}" srcOrd="0" destOrd="0" presId="urn:microsoft.com/office/officeart/2005/8/layout/vList2"/>
    <dgm:cxn modelId="{078D3125-88FD-49BC-A952-17E781FD51B7}" srcId="{9E94E733-C074-4E48-ADEB-90020852C067}" destId="{467F397B-0DEF-430C-8B76-4D6DD066C9B1}" srcOrd="1" destOrd="0" parTransId="{B846D66E-E686-414D-8352-060756B84E94}" sibTransId="{A2BFF2DE-5E30-4321-A1DC-EA19B88FB0CF}"/>
    <dgm:cxn modelId="{0FAEB92B-5DF7-468E-88D6-BEC51634AD91}" type="presOf" srcId="{29C26F3D-A8F0-468D-B72A-0910046E913C}" destId="{29A14B1D-A001-422E-8E45-222767BEB4F6}" srcOrd="0" destOrd="0" presId="urn:microsoft.com/office/officeart/2005/8/layout/vList2"/>
    <dgm:cxn modelId="{CDA8C046-B710-488E-8473-048DCC35FB37}" type="presOf" srcId="{DC16ADE3-7353-40D9-8895-6498ABEB7F7B}" destId="{A63C81D1-1531-4107-B258-1E752F087E3A}" srcOrd="0" destOrd="0" presId="urn:microsoft.com/office/officeart/2005/8/layout/vList2"/>
    <dgm:cxn modelId="{71178770-831E-4BC5-816C-5B8E0185DB9A}" type="presOf" srcId="{467F397B-0DEF-430C-8B76-4D6DD066C9B1}" destId="{E32AC108-D940-4450-A676-49F929C936D1}" srcOrd="0" destOrd="0" presId="urn:microsoft.com/office/officeart/2005/8/layout/vList2"/>
    <dgm:cxn modelId="{59730657-D8AD-492E-BAA4-623CF864B610}" srcId="{9E94E733-C074-4E48-ADEB-90020852C067}" destId="{29C26F3D-A8F0-468D-B72A-0910046E913C}" srcOrd="2" destOrd="0" parTransId="{2C650400-1C9B-4E51-8005-828D71E2D3E1}" sibTransId="{4DEBF6DB-BEA6-4564-B724-5877E0773723}"/>
    <dgm:cxn modelId="{236FF458-F683-429D-AE7C-0E6D698434C6}" type="presOf" srcId="{9E94E733-C074-4E48-ADEB-90020852C067}" destId="{D30DE1A7-F1E8-403A-BE1D-BDCFDD6C140B}" srcOrd="0" destOrd="0" presId="urn:microsoft.com/office/officeart/2005/8/layout/vList2"/>
    <dgm:cxn modelId="{21D55EB1-3658-4FF9-B131-7BB7D7A9D848}" srcId="{9E94E733-C074-4E48-ADEB-90020852C067}" destId="{DC16ADE3-7353-40D9-8895-6498ABEB7F7B}" srcOrd="0" destOrd="0" parTransId="{A9EEBA35-6A8A-449D-954B-791EB42A6B86}" sibTransId="{C17E9201-F775-40AD-B5CB-301AC7F81597}"/>
    <dgm:cxn modelId="{C24BC4EF-EF44-4368-B5FC-0878280F648E}" srcId="{9E94E733-C074-4E48-ADEB-90020852C067}" destId="{16A295E8-6C31-4BC8-8B8C-B82158CF7A94}" srcOrd="3" destOrd="0" parTransId="{567D3573-C15F-42C7-8C10-25CC2A53E999}" sibTransId="{2E45D462-1D8B-4002-A855-21125C7ABECD}"/>
    <dgm:cxn modelId="{52E1754C-4452-4AED-B490-5599F17ADD01}" type="presParOf" srcId="{D30DE1A7-F1E8-403A-BE1D-BDCFDD6C140B}" destId="{A63C81D1-1531-4107-B258-1E752F087E3A}" srcOrd="0" destOrd="0" presId="urn:microsoft.com/office/officeart/2005/8/layout/vList2"/>
    <dgm:cxn modelId="{184B567B-563A-45BA-B052-522643D569E8}" type="presParOf" srcId="{D30DE1A7-F1E8-403A-BE1D-BDCFDD6C140B}" destId="{68C87509-85AB-41C2-B587-9E9F05EDCFC8}" srcOrd="1" destOrd="0" presId="urn:microsoft.com/office/officeart/2005/8/layout/vList2"/>
    <dgm:cxn modelId="{97E9652F-4F31-44C7-9C4A-60096E5AA729}" type="presParOf" srcId="{D30DE1A7-F1E8-403A-BE1D-BDCFDD6C140B}" destId="{E32AC108-D940-4450-A676-49F929C936D1}" srcOrd="2" destOrd="0" presId="urn:microsoft.com/office/officeart/2005/8/layout/vList2"/>
    <dgm:cxn modelId="{F2299930-B47F-4A0B-8E59-DF893C7D0D2F}" type="presParOf" srcId="{D30DE1A7-F1E8-403A-BE1D-BDCFDD6C140B}" destId="{A64D5918-15F4-4DF6-AAF1-9F9F9AEC119C}" srcOrd="3" destOrd="0" presId="urn:microsoft.com/office/officeart/2005/8/layout/vList2"/>
    <dgm:cxn modelId="{85840926-D16D-48E8-BA84-84D62B6D9996}" type="presParOf" srcId="{D30DE1A7-F1E8-403A-BE1D-BDCFDD6C140B}" destId="{29A14B1D-A001-422E-8E45-222767BEB4F6}" srcOrd="4" destOrd="0" presId="urn:microsoft.com/office/officeart/2005/8/layout/vList2"/>
    <dgm:cxn modelId="{6DB11B53-1011-407B-8362-A0E9C25CBA2E}" type="presParOf" srcId="{D30DE1A7-F1E8-403A-BE1D-BDCFDD6C140B}" destId="{9709936B-7D31-4FDE-9D72-446D8728ADA3}" srcOrd="5" destOrd="0" presId="urn:microsoft.com/office/officeart/2005/8/layout/vList2"/>
    <dgm:cxn modelId="{FAFAA4A5-AAD4-4431-8EC3-D037D740DD72}" type="presParOf" srcId="{D30DE1A7-F1E8-403A-BE1D-BDCFDD6C140B}" destId="{D612BF71-4AB9-4FB3-AF6E-003DB46EF73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0630BF-0DEF-4B50-B90E-0C3FCFF9E8F0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7885B4D-3B09-483F-AC4F-EA61D657C15A}">
      <dgm:prSet/>
      <dgm:spPr/>
      <dgm:t>
        <a:bodyPr/>
        <a:lstStyle/>
        <a:p>
          <a:r>
            <a:rPr lang="en-US" b="1" dirty="0"/>
            <a:t>Methodology</a:t>
          </a:r>
          <a:r>
            <a:rPr lang="en-US" dirty="0"/>
            <a:t>:</a:t>
          </a:r>
        </a:p>
      </dgm:t>
    </dgm:pt>
    <dgm:pt modelId="{95668080-2F86-47FF-832F-EF14C3BFD797}" type="parTrans" cxnId="{72B9E28F-1B75-47B7-A21E-6182BC67B4C1}">
      <dgm:prSet/>
      <dgm:spPr/>
      <dgm:t>
        <a:bodyPr/>
        <a:lstStyle/>
        <a:p>
          <a:endParaRPr lang="en-US"/>
        </a:p>
      </dgm:t>
    </dgm:pt>
    <dgm:pt modelId="{A1698061-8A3D-4DD5-B5AC-EDECC92A6606}" type="sibTrans" cxnId="{72B9E28F-1B75-47B7-A21E-6182BC67B4C1}">
      <dgm:prSet/>
      <dgm:spPr/>
      <dgm:t>
        <a:bodyPr/>
        <a:lstStyle/>
        <a:p>
          <a:endParaRPr lang="en-US"/>
        </a:p>
      </dgm:t>
    </dgm:pt>
    <dgm:pt modelId="{91776EB4-FC86-4248-99E4-05C121669C5E}">
      <dgm:prSet/>
      <dgm:spPr/>
      <dgm:t>
        <a:bodyPr/>
        <a:lstStyle/>
        <a:p>
          <a:r>
            <a:rPr lang="en-US" dirty="0"/>
            <a:t>•Step 1: Feature Extraction – Selecting key network packet features relevant to ARP spoofing.</a:t>
          </a:r>
        </a:p>
      </dgm:t>
    </dgm:pt>
    <dgm:pt modelId="{5481DCD2-1617-4298-B592-772AD8771013}" type="parTrans" cxnId="{452CDDED-99ED-46A2-A07C-CC6AEBF47917}">
      <dgm:prSet/>
      <dgm:spPr/>
      <dgm:t>
        <a:bodyPr/>
        <a:lstStyle/>
        <a:p>
          <a:endParaRPr lang="en-US"/>
        </a:p>
      </dgm:t>
    </dgm:pt>
    <dgm:pt modelId="{DD0014F2-D8C0-437C-BD27-22B2DA03661E}" type="sibTrans" cxnId="{452CDDED-99ED-46A2-A07C-CC6AEBF47917}">
      <dgm:prSet/>
      <dgm:spPr/>
      <dgm:t>
        <a:bodyPr/>
        <a:lstStyle/>
        <a:p>
          <a:endParaRPr lang="en-US"/>
        </a:p>
      </dgm:t>
    </dgm:pt>
    <dgm:pt modelId="{493F7FC6-5CB3-4428-84A0-C0C3D5FBF05C}">
      <dgm:prSet/>
      <dgm:spPr/>
      <dgm:t>
        <a:bodyPr/>
        <a:lstStyle/>
        <a:p>
          <a:r>
            <a:rPr lang="en-US" dirty="0"/>
            <a:t>•Step 2: Model Training – Using deep learning to train a classifier that distinguishes between legitimate and spoofed ARP packets.</a:t>
          </a:r>
        </a:p>
      </dgm:t>
    </dgm:pt>
    <dgm:pt modelId="{DA4D5A50-7F5B-44AB-8AA9-B6133E1C15D4}" type="parTrans" cxnId="{F74ADC9E-9206-4517-B018-B7F451AA8B29}">
      <dgm:prSet/>
      <dgm:spPr/>
      <dgm:t>
        <a:bodyPr/>
        <a:lstStyle/>
        <a:p>
          <a:endParaRPr lang="en-US"/>
        </a:p>
      </dgm:t>
    </dgm:pt>
    <dgm:pt modelId="{B4F49A6F-A68F-4DDB-AA8E-0FDC81BB977E}" type="sibTrans" cxnId="{F74ADC9E-9206-4517-B018-B7F451AA8B29}">
      <dgm:prSet/>
      <dgm:spPr/>
      <dgm:t>
        <a:bodyPr/>
        <a:lstStyle/>
        <a:p>
          <a:endParaRPr lang="en-US"/>
        </a:p>
      </dgm:t>
    </dgm:pt>
    <dgm:pt modelId="{9F741A45-5C74-4479-871A-F736EEC174F6}">
      <dgm:prSet/>
      <dgm:spPr/>
      <dgm:t>
        <a:bodyPr/>
        <a:lstStyle/>
        <a:p>
          <a:r>
            <a:rPr lang="en-US" dirty="0"/>
            <a:t>•Step 3: Deployment – Implementing the trained model for real-time detection in an IoT network.</a:t>
          </a:r>
        </a:p>
      </dgm:t>
    </dgm:pt>
    <dgm:pt modelId="{4B074B7C-CE94-45B4-AB8D-A3B49F9ACE29}" type="parTrans" cxnId="{F146791D-A452-448E-A41F-8CBB55AA720B}">
      <dgm:prSet/>
      <dgm:spPr/>
      <dgm:t>
        <a:bodyPr/>
        <a:lstStyle/>
        <a:p>
          <a:endParaRPr lang="en-US"/>
        </a:p>
      </dgm:t>
    </dgm:pt>
    <dgm:pt modelId="{8E4E4946-4248-4C75-9DD4-D0B78F1D1A49}" type="sibTrans" cxnId="{F146791D-A452-448E-A41F-8CBB55AA720B}">
      <dgm:prSet/>
      <dgm:spPr/>
      <dgm:t>
        <a:bodyPr/>
        <a:lstStyle/>
        <a:p>
          <a:endParaRPr lang="en-US"/>
        </a:p>
      </dgm:t>
    </dgm:pt>
    <dgm:pt modelId="{1D2CB958-F67F-4FF2-BED0-51DB92647A48}" type="pres">
      <dgm:prSet presAssocID="{490630BF-0DEF-4B50-B90E-0C3FCFF9E8F0}" presName="linear" presStyleCnt="0">
        <dgm:presLayoutVars>
          <dgm:animLvl val="lvl"/>
          <dgm:resizeHandles val="exact"/>
        </dgm:presLayoutVars>
      </dgm:prSet>
      <dgm:spPr/>
    </dgm:pt>
    <dgm:pt modelId="{083F5C93-39B5-480D-8CD0-3E002B8EBB18}" type="pres">
      <dgm:prSet presAssocID="{E7885B4D-3B09-483F-AC4F-EA61D657C15A}" presName="parentText" presStyleLbl="node1" presStyleIdx="0" presStyleCnt="4" custLinFactY="-18447" custLinFactNeighborX="632" custLinFactNeighborY="-100000">
        <dgm:presLayoutVars>
          <dgm:chMax val="0"/>
          <dgm:bulletEnabled val="1"/>
        </dgm:presLayoutVars>
      </dgm:prSet>
      <dgm:spPr/>
    </dgm:pt>
    <dgm:pt modelId="{DF999A88-C854-4DF1-822B-58B4C36D7804}" type="pres">
      <dgm:prSet presAssocID="{A1698061-8A3D-4DD5-B5AC-EDECC92A6606}" presName="spacer" presStyleCnt="0"/>
      <dgm:spPr/>
    </dgm:pt>
    <dgm:pt modelId="{9E9B0B85-1D2E-4020-AB25-3844E23BC6A4}" type="pres">
      <dgm:prSet presAssocID="{91776EB4-FC86-4248-99E4-05C121669C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CA9F4E-54C6-4168-8C10-3FF510996A1E}" type="pres">
      <dgm:prSet presAssocID="{DD0014F2-D8C0-437C-BD27-22B2DA03661E}" presName="spacer" presStyleCnt="0"/>
      <dgm:spPr/>
    </dgm:pt>
    <dgm:pt modelId="{79C3BA6F-E813-4840-9694-F711FFE51FEB}" type="pres">
      <dgm:prSet presAssocID="{493F7FC6-5CB3-4428-84A0-C0C3D5FBF05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F60DA3-1FD7-4F5C-9E2A-F5C569367564}" type="pres">
      <dgm:prSet presAssocID="{B4F49A6F-A68F-4DDB-AA8E-0FDC81BB977E}" presName="spacer" presStyleCnt="0"/>
      <dgm:spPr/>
    </dgm:pt>
    <dgm:pt modelId="{09E814AD-EE38-4BA3-A8EA-539A77533906}" type="pres">
      <dgm:prSet presAssocID="{9F741A45-5C74-4479-871A-F736EEC174F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46791D-A452-448E-A41F-8CBB55AA720B}" srcId="{490630BF-0DEF-4B50-B90E-0C3FCFF9E8F0}" destId="{9F741A45-5C74-4479-871A-F736EEC174F6}" srcOrd="3" destOrd="0" parTransId="{4B074B7C-CE94-45B4-AB8D-A3B49F9ACE29}" sibTransId="{8E4E4946-4248-4C75-9DD4-D0B78F1D1A49}"/>
    <dgm:cxn modelId="{7359112F-5771-4769-8C0C-27AF45679E6F}" type="presOf" srcId="{91776EB4-FC86-4248-99E4-05C121669C5E}" destId="{9E9B0B85-1D2E-4020-AB25-3844E23BC6A4}" srcOrd="0" destOrd="0" presId="urn:microsoft.com/office/officeart/2005/8/layout/vList2"/>
    <dgm:cxn modelId="{63FD5F38-9D58-4495-B438-FF12C590D688}" type="presOf" srcId="{490630BF-0DEF-4B50-B90E-0C3FCFF9E8F0}" destId="{1D2CB958-F67F-4FF2-BED0-51DB92647A48}" srcOrd="0" destOrd="0" presId="urn:microsoft.com/office/officeart/2005/8/layout/vList2"/>
    <dgm:cxn modelId="{F400A13B-99EA-4FBE-9B61-BD98E13CFE3E}" type="presOf" srcId="{493F7FC6-5CB3-4428-84A0-C0C3D5FBF05C}" destId="{79C3BA6F-E813-4840-9694-F711FFE51FEB}" srcOrd="0" destOrd="0" presId="urn:microsoft.com/office/officeart/2005/8/layout/vList2"/>
    <dgm:cxn modelId="{72B9E28F-1B75-47B7-A21E-6182BC67B4C1}" srcId="{490630BF-0DEF-4B50-B90E-0C3FCFF9E8F0}" destId="{E7885B4D-3B09-483F-AC4F-EA61D657C15A}" srcOrd="0" destOrd="0" parTransId="{95668080-2F86-47FF-832F-EF14C3BFD797}" sibTransId="{A1698061-8A3D-4DD5-B5AC-EDECC92A6606}"/>
    <dgm:cxn modelId="{F74ADC9E-9206-4517-B018-B7F451AA8B29}" srcId="{490630BF-0DEF-4B50-B90E-0C3FCFF9E8F0}" destId="{493F7FC6-5CB3-4428-84A0-C0C3D5FBF05C}" srcOrd="2" destOrd="0" parTransId="{DA4D5A50-7F5B-44AB-8AA9-B6133E1C15D4}" sibTransId="{B4F49A6F-A68F-4DDB-AA8E-0FDC81BB977E}"/>
    <dgm:cxn modelId="{312321A5-7CD5-4DA6-9A5E-84400F8BA5A4}" type="presOf" srcId="{E7885B4D-3B09-483F-AC4F-EA61D657C15A}" destId="{083F5C93-39B5-480D-8CD0-3E002B8EBB18}" srcOrd="0" destOrd="0" presId="urn:microsoft.com/office/officeart/2005/8/layout/vList2"/>
    <dgm:cxn modelId="{A3DD76C9-0944-411D-A5DC-944BD07E45A2}" type="presOf" srcId="{9F741A45-5C74-4479-871A-F736EEC174F6}" destId="{09E814AD-EE38-4BA3-A8EA-539A77533906}" srcOrd="0" destOrd="0" presId="urn:microsoft.com/office/officeart/2005/8/layout/vList2"/>
    <dgm:cxn modelId="{452CDDED-99ED-46A2-A07C-CC6AEBF47917}" srcId="{490630BF-0DEF-4B50-B90E-0C3FCFF9E8F0}" destId="{91776EB4-FC86-4248-99E4-05C121669C5E}" srcOrd="1" destOrd="0" parTransId="{5481DCD2-1617-4298-B592-772AD8771013}" sibTransId="{DD0014F2-D8C0-437C-BD27-22B2DA03661E}"/>
    <dgm:cxn modelId="{018281FD-08DF-4671-9F13-D48294A91A3F}" type="presParOf" srcId="{1D2CB958-F67F-4FF2-BED0-51DB92647A48}" destId="{083F5C93-39B5-480D-8CD0-3E002B8EBB18}" srcOrd="0" destOrd="0" presId="urn:microsoft.com/office/officeart/2005/8/layout/vList2"/>
    <dgm:cxn modelId="{5405F387-2542-4286-B8DD-A618987D98C5}" type="presParOf" srcId="{1D2CB958-F67F-4FF2-BED0-51DB92647A48}" destId="{DF999A88-C854-4DF1-822B-58B4C36D7804}" srcOrd="1" destOrd="0" presId="urn:microsoft.com/office/officeart/2005/8/layout/vList2"/>
    <dgm:cxn modelId="{6895033F-95C9-40F5-9AF2-FCBB8800A473}" type="presParOf" srcId="{1D2CB958-F67F-4FF2-BED0-51DB92647A48}" destId="{9E9B0B85-1D2E-4020-AB25-3844E23BC6A4}" srcOrd="2" destOrd="0" presId="urn:microsoft.com/office/officeart/2005/8/layout/vList2"/>
    <dgm:cxn modelId="{D2D9CA34-DF9E-423A-88A3-157C5B195AB5}" type="presParOf" srcId="{1D2CB958-F67F-4FF2-BED0-51DB92647A48}" destId="{94CA9F4E-54C6-4168-8C10-3FF510996A1E}" srcOrd="3" destOrd="0" presId="urn:microsoft.com/office/officeart/2005/8/layout/vList2"/>
    <dgm:cxn modelId="{E17BF89C-5676-4167-B1BF-7D929EE7C87B}" type="presParOf" srcId="{1D2CB958-F67F-4FF2-BED0-51DB92647A48}" destId="{79C3BA6F-E813-4840-9694-F711FFE51FEB}" srcOrd="4" destOrd="0" presId="urn:microsoft.com/office/officeart/2005/8/layout/vList2"/>
    <dgm:cxn modelId="{8BC1832E-DC2F-46C8-97F8-57A71D3B21A2}" type="presParOf" srcId="{1D2CB958-F67F-4FF2-BED0-51DB92647A48}" destId="{FFF60DA3-1FD7-4F5C-9E2A-F5C569367564}" srcOrd="5" destOrd="0" presId="urn:microsoft.com/office/officeart/2005/8/layout/vList2"/>
    <dgm:cxn modelId="{4538FDBA-1D95-4B2D-840B-619EA69D17EB}" type="presParOf" srcId="{1D2CB958-F67F-4FF2-BED0-51DB92647A48}" destId="{09E814AD-EE38-4BA3-A8EA-539A7753390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94DDB-A049-4F71-A30C-9D0B13F6C654}">
      <dsp:nvSpPr>
        <dsp:cNvPr id="0" name=""/>
        <dsp:cNvSpPr/>
      </dsp:nvSpPr>
      <dsp:spPr>
        <a:xfrm>
          <a:off x="0" y="79220"/>
          <a:ext cx="6253721" cy="117907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Problem Statement</a:t>
          </a:r>
          <a:r>
            <a:rPr lang="en-US" sz="2100" kern="1200"/>
            <a:t>:</a:t>
          </a:r>
        </a:p>
      </dsp:txBody>
      <dsp:txXfrm>
        <a:off x="57558" y="136778"/>
        <a:ext cx="6138605" cy="1063956"/>
      </dsp:txXfrm>
    </dsp:sp>
    <dsp:sp modelId="{37CFE93D-E6EB-4E9D-9C5A-0045BBD81D5B}">
      <dsp:nvSpPr>
        <dsp:cNvPr id="0" name=""/>
        <dsp:cNvSpPr/>
      </dsp:nvSpPr>
      <dsp:spPr>
        <a:xfrm>
          <a:off x="0" y="1318772"/>
          <a:ext cx="6253721" cy="1179072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•ARP (Address Resolution Protocol) is essential for communication in local networks.</a:t>
          </a:r>
        </a:p>
      </dsp:txBody>
      <dsp:txXfrm>
        <a:off x="57558" y="1376330"/>
        <a:ext cx="6138605" cy="1063956"/>
      </dsp:txXfrm>
    </dsp:sp>
    <dsp:sp modelId="{095C3FC5-9CA9-4863-85C0-741473A70378}">
      <dsp:nvSpPr>
        <dsp:cNvPr id="0" name=""/>
        <dsp:cNvSpPr/>
      </dsp:nvSpPr>
      <dsp:spPr>
        <a:xfrm>
          <a:off x="0" y="2558325"/>
          <a:ext cx="6253721" cy="1179072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•Attackers can send fake ARP packets to redirect network traffic, leading to data breaches and unauthorized access.</a:t>
          </a:r>
        </a:p>
      </dsp:txBody>
      <dsp:txXfrm>
        <a:off x="57558" y="2615883"/>
        <a:ext cx="6138605" cy="1063956"/>
      </dsp:txXfrm>
    </dsp:sp>
    <dsp:sp modelId="{1E7173DA-64C9-4612-84D5-D5CA602A2864}">
      <dsp:nvSpPr>
        <dsp:cNvPr id="0" name=""/>
        <dsp:cNvSpPr/>
      </dsp:nvSpPr>
      <dsp:spPr>
        <a:xfrm>
          <a:off x="0" y="3797877"/>
          <a:ext cx="6253721" cy="117907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•IoT devices are particularly vulnerable due to their low computational power and lack of robust security solutions.</a:t>
          </a:r>
        </a:p>
      </dsp:txBody>
      <dsp:txXfrm>
        <a:off x="57558" y="3855435"/>
        <a:ext cx="6138605" cy="1063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C81D1-1531-4107-B258-1E752F087E3A}">
      <dsp:nvSpPr>
        <dsp:cNvPr id="0" name=""/>
        <dsp:cNvSpPr/>
      </dsp:nvSpPr>
      <dsp:spPr>
        <a:xfrm>
          <a:off x="0" y="0"/>
          <a:ext cx="5291663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Research Contributions</a:t>
          </a:r>
          <a:r>
            <a:rPr lang="en-US" sz="2000" kern="1200"/>
            <a:t>:</a:t>
          </a:r>
        </a:p>
      </dsp:txBody>
      <dsp:txXfrm>
        <a:off x="53973" y="53973"/>
        <a:ext cx="5183717" cy="997704"/>
      </dsp:txXfrm>
    </dsp:sp>
    <dsp:sp modelId="{E32AC108-D940-4450-A676-49F929C936D1}">
      <dsp:nvSpPr>
        <dsp:cNvPr id="0" name=""/>
        <dsp:cNvSpPr/>
      </dsp:nvSpPr>
      <dsp:spPr>
        <a:xfrm>
          <a:off x="0" y="1586504"/>
          <a:ext cx="5291663" cy="11056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•Development of ARP-PROBE, an ARP spoofing detection system based on a deep neural network (DNN).</a:t>
          </a:r>
        </a:p>
      </dsp:txBody>
      <dsp:txXfrm>
        <a:off x="53973" y="1640477"/>
        <a:ext cx="5183717" cy="997704"/>
      </dsp:txXfrm>
    </dsp:sp>
    <dsp:sp modelId="{29A14B1D-A001-422E-8E45-222767BEB4F6}">
      <dsp:nvSpPr>
        <dsp:cNvPr id="0" name=""/>
        <dsp:cNvSpPr/>
      </dsp:nvSpPr>
      <dsp:spPr>
        <a:xfrm>
          <a:off x="0" y="2749754"/>
          <a:ext cx="5291663" cy="11056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•Implementation of SHAP (SHapley Additive exPlanations) to make the detection model interpretable and trustworthy.	</a:t>
          </a:r>
        </a:p>
      </dsp:txBody>
      <dsp:txXfrm>
        <a:off x="53973" y="2803727"/>
        <a:ext cx="5183717" cy="997704"/>
      </dsp:txXfrm>
    </dsp:sp>
    <dsp:sp modelId="{D612BF71-4AB9-4FB3-AF6E-003DB46EF73F}">
      <dsp:nvSpPr>
        <dsp:cNvPr id="0" name=""/>
        <dsp:cNvSpPr/>
      </dsp:nvSpPr>
      <dsp:spPr>
        <a:xfrm>
          <a:off x="0" y="3913005"/>
          <a:ext cx="5291663" cy="11056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Optimization of feature selection to ensure high accuracy while minimizing resource consumption.</a:t>
          </a:r>
        </a:p>
      </dsp:txBody>
      <dsp:txXfrm>
        <a:off x="53973" y="3966978"/>
        <a:ext cx="5183717" cy="997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F5C93-39B5-480D-8CD0-3E002B8EBB18}">
      <dsp:nvSpPr>
        <dsp:cNvPr id="0" name=""/>
        <dsp:cNvSpPr/>
      </dsp:nvSpPr>
      <dsp:spPr>
        <a:xfrm>
          <a:off x="0" y="2"/>
          <a:ext cx="5291663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Methodology</a:t>
          </a:r>
          <a:r>
            <a:rPr lang="en-US" sz="2000" kern="1200" dirty="0"/>
            <a:t>:</a:t>
          </a:r>
        </a:p>
      </dsp:txBody>
      <dsp:txXfrm>
        <a:off x="53973" y="53975"/>
        <a:ext cx="5183717" cy="997704"/>
      </dsp:txXfrm>
    </dsp:sp>
    <dsp:sp modelId="{9E9B0B85-1D2E-4020-AB25-3844E23BC6A4}">
      <dsp:nvSpPr>
        <dsp:cNvPr id="0" name=""/>
        <dsp:cNvSpPr/>
      </dsp:nvSpPr>
      <dsp:spPr>
        <a:xfrm>
          <a:off x="0" y="1424812"/>
          <a:ext cx="5291663" cy="11056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•Step 1: Feature Extraction – Selecting key network packet features relevant to ARP spoofing.</a:t>
          </a:r>
        </a:p>
      </dsp:txBody>
      <dsp:txXfrm>
        <a:off x="53973" y="1478785"/>
        <a:ext cx="5183717" cy="997704"/>
      </dsp:txXfrm>
    </dsp:sp>
    <dsp:sp modelId="{79C3BA6F-E813-4840-9694-F711FFE51FEB}">
      <dsp:nvSpPr>
        <dsp:cNvPr id="0" name=""/>
        <dsp:cNvSpPr/>
      </dsp:nvSpPr>
      <dsp:spPr>
        <a:xfrm>
          <a:off x="0" y="2588062"/>
          <a:ext cx="5291663" cy="11056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•Step 2: Model Training – Using deep learning to train a classifier that distinguishes between legitimate and spoofed ARP packets.</a:t>
          </a:r>
        </a:p>
      </dsp:txBody>
      <dsp:txXfrm>
        <a:off x="53973" y="2642035"/>
        <a:ext cx="5183717" cy="997704"/>
      </dsp:txXfrm>
    </dsp:sp>
    <dsp:sp modelId="{09E814AD-EE38-4BA3-A8EA-539A77533906}">
      <dsp:nvSpPr>
        <dsp:cNvPr id="0" name=""/>
        <dsp:cNvSpPr/>
      </dsp:nvSpPr>
      <dsp:spPr>
        <a:xfrm>
          <a:off x="0" y="3751312"/>
          <a:ext cx="5291663" cy="11056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•Step 3: Deployment – Implementing the trained model for real-time detection in an IoT network.</a:t>
          </a:r>
        </a:p>
      </dsp:txBody>
      <dsp:txXfrm>
        <a:off x="53973" y="3805285"/>
        <a:ext cx="5183717" cy="997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E114-7DE9-134D-0CAB-6EB88B4AF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2F4E9-1C7E-C9CB-4C72-64CE4C0BB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FA0A3-3FAD-EA07-1FB0-8175918B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80554-3D30-62D1-88C8-7E0CA463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28F4D-AC03-035E-54AB-F13A348E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8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BEA5A-76FA-5C44-82CC-1A3697887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7FE0-F62E-5E94-6952-6F4824D40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87E2B-C59F-5057-80FB-0AADBF1C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77A76-F55B-5BE4-2853-F9F31CB3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29B05-3A4B-F2A5-B7E8-7109F959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3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B079-767E-4BB8-C2EF-11345F2F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1CF16-C27C-F7A8-A307-E6FFC0417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BE71B-9702-E487-E34D-B0FE9A89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4B5E-3E6F-6B7A-B58A-892CF102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AD4EF-0196-644D-3256-E9F16AEC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48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3B8B-8A5C-14A2-43DE-CDAB7F78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AB917-3800-F918-A171-A2746F519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E3C5A-2DC7-B73E-5EE3-AF70243BE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62BF4-2798-EAC3-120F-5395B687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8539C-7E22-4F1A-4C93-F12F18482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15DFA-6423-95A4-E629-5F5ED450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7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0DD5-0019-B286-B346-539647B7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53796-60D3-BE28-C317-E5259FE20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F437B-95C8-D222-65A7-90ACD088D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5C7541-B539-043C-34A8-32A4BA1AE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BF3FA-AC6B-8C57-2B6E-1BBF1320B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90BF9-B867-12CC-2AD7-A279DEE7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91FFF-1F07-0514-766E-AC328556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A1486-F74E-99F4-D8DB-3F6374F6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9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3CD1-2FBF-4F75-8844-7BF95350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4B684-7523-8AE6-F548-78AED567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7438D-A654-B617-5A73-8C416696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4C60A-AF0B-80F8-382C-20C07D92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4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9D7C7-FAF6-3974-ACE9-56E64CD82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B1B946-A4DF-9623-C11C-6D4B0D77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9AB01-8AC0-C82A-2F37-2B25BF15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53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5E00-19EE-156B-6EC5-6DE42409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8222-8586-EB93-BDE4-DF69146E6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0AD38-3869-3345-7F0D-174C6B0A2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FD04E-0885-4063-B503-25F751EA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59138-1DDE-6106-7881-C365FF95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F3777-4583-27BC-83E6-F65A2FB6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77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55BF-AC40-9F4C-13C7-1C54A7B31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BD33B-C012-9582-4D58-34325A42B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25B8B-FDBF-EBBE-76AB-6C3E966D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003CA-2F40-F2EE-F578-34E333E5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A2C21-8BBC-1D04-F1B5-FD995961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0D77E-AE21-B3D2-9711-A895508F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07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09E87-4096-D5EA-D115-095A50A6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A41EB-0CD3-5F4D-B50F-680628A60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6B410-45C1-2DBF-8466-95D45CD8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D9F7A-F375-0995-749D-D221B49B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C2805-A260-20D5-64E9-722CC375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0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FBFFB-B39A-AABC-50F6-4B8367AD4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A19B8-35D1-20FA-BBE8-5E4C8AC9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118E9-1274-1537-2E80-2D1A0B41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8AFFA-81B5-C048-C146-75118E8C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4846F-68D1-5DA4-3F1A-C9B07B44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2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60E60-8B73-A253-F3E9-430349A21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11299-EEAA-5850-A856-33B314777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494C7-E695-D4A7-0FBF-C232F744D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96F5C-1BCF-4681-8686-499B94578719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70D3E-89B0-8DD5-B375-2C16599EC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2895B-3499-8942-F1AD-E53DD7B68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2D5A6-E58E-421F-B5C3-A5F5512E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9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C78CEE62-F60B-E3CA-1767-5D49F1EE8B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8" r="247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12C7-F3F6-5003-9636-975CF1D8A485}"/>
              </a:ext>
            </a:extLst>
          </p:cNvPr>
          <p:cNvSpPr txBox="1"/>
          <p:nvPr/>
        </p:nvSpPr>
        <p:spPr>
          <a:xfrm>
            <a:off x="7304050" y="234176"/>
            <a:ext cx="4049750" cy="6333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 Introduction: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•The Internet of Things (IoT) is expanding rapidly, increasing security challenges.	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•ARP spoofing attacks exploit vulnerabilities in the Address Resolution Protocol (ARP) to manipulate network traffic.	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•Traditional ARP detection methods are inefficient for IoT due to limited device resources.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1" dirty="0">
              <a:effectLst>
                <a:outerShdw blurRad="50800" dist="50800" dir="5400000" algn="ctr" rotWithShape="0">
                  <a:srgbClr val="000000">
                    <a:alpha val="98000"/>
                  </a:srgbClr>
                </a:outerShdw>
                <a:reflection stA="99000" endPos="65000" dist="50800" dir="5400000" sy="-100000" algn="bl" rotWithShape="0"/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/>
              <a:t>•This study proposes ARP-PROBE, a deep learning-based system for detecting ARP spoofing in IoT networks.</a:t>
            </a:r>
          </a:p>
        </p:txBody>
      </p:sp>
    </p:spTree>
    <p:extLst>
      <p:ext uri="{BB962C8B-B14F-4D97-AF65-F5344CB8AC3E}">
        <p14:creationId xmlns:p14="http://schemas.microsoft.com/office/powerpoint/2010/main" val="74676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6B514F2-DD41-EB41-7163-3D3DFE36B5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3775706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7055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lose-up of a solar panel&#10;&#10;Description automatically generated">
            <a:extLst>
              <a:ext uri="{FF2B5EF4-FFF2-40B4-BE49-F238E27FC236}">
                <a16:creationId xmlns:a16="http://schemas.microsoft.com/office/drawing/2014/main" id="{8AC081DF-C1B7-1881-F09C-76EC51526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28" r="18924" b="-2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0CBA790-B465-3CA2-F8FF-F67F107D35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446785"/>
              </p:ext>
            </p:extLst>
          </p:nvPr>
        </p:nvGraphicFramePr>
        <p:xfrm>
          <a:off x="6417734" y="925552"/>
          <a:ext cx="5291663" cy="5441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4599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image of a blue and yellow light&#10;&#10;Description automatically generated">
            <a:extLst>
              <a:ext uri="{FF2B5EF4-FFF2-40B4-BE49-F238E27FC236}">
                <a16:creationId xmlns:a16="http://schemas.microsoft.com/office/drawing/2014/main" id="{D62FCC53-CAB3-ADD1-9F24-2BD2C475A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06" r="10746" b="-2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A9D1979-354E-E710-758A-00B6D5242C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6966326"/>
              </p:ext>
            </p:extLst>
          </p:nvPr>
        </p:nvGraphicFramePr>
        <p:xfrm>
          <a:off x="6417734" y="1248938"/>
          <a:ext cx="5291663" cy="5118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557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4E02F6C7-C225-9482-FB60-B4FF2812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43" r="2825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DF872-F251-376D-7C5C-699C7E743999}"/>
              </a:ext>
            </a:extLst>
          </p:cNvPr>
          <p:cNvSpPr txBox="1"/>
          <p:nvPr/>
        </p:nvSpPr>
        <p:spPr>
          <a:xfrm>
            <a:off x="6115317" y="769434"/>
            <a:ext cx="5247340" cy="5470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Experimental Setup and Results: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•The model was tested on real IoT network traffic data.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•Achieved an accuracy of 99.98%, with a false positive rate of 0.026% and a false negative rate of 0.0018%.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•The system was validated using a second dataset, demonstrating consistent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2695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resentation with Org Chart">
            <a:extLst>
              <a:ext uri="{FF2B5EF4-FFF2-40B4-BE49-F238E27FC236}">
                <a16:creationId xmlns:a16="http://schemas.microsoft.com/office/drawing/2014/main" id="{3193A830-97FB-5CD1-68CE-00FB42353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D67377-4DB5-FB1C-6C48-7422DAB1DAFA}"/>
              </a:ext>
            </a:extLst>
          </p:cNvPr>
          <p:cNvSpPr txBox="1"/>
          <p:nvPr/>
        </p:nvSpPr>
        <p:spPr>
          <a:xfrm>
            <a:off x="6090573" y="769434"/>
            <a:ext cx="5414475" cy="5291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Interpretability and Explanation: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•SHAP values were used to explain how each feature influences the model’s predictions.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•Key influential features include IP flags, frame length, and TCP flags.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•Red dots indicate high values, and blue dots indicate low values for each feature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•The interpretability of the model ensures transparency and trust in its decisions.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60163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2600E875-A6AD-F5D6-56BD-4C2F34053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8BB9A-2E80-3040-BCDE-1EE500B79457}"/>
              </a:ext>
            </a:extLst>
          </p:cNvPr>
          <p:cNvSpPr txBox="1"/>
          <p:nvPr/>
        </p:nvSpPr>
        <p:spPr>
          <a:xfrm>
            <a:off x="6090574" y="735980"/>
            <a:ext cx="4977578" cy="5324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2"/>
                </a:solidFill>
              </a:rPr>
              <a:t>Conclusions and Future Work:</a:t>
            </a:r>
            <a:r>
              <a:rPr lang="en-US" sz="1000" dirty="0">
                <a:solidFill>
                  <a:schemeClr val="tx2"/>
                </a:solidFill>
              </a:rPr>
              <a:t>	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•ARP-PROBE is an effective real-time ARP spoofing detector, achieving 99.98% accuracy.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Two deployment options:	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1.On IoT devices with lightweight tools like   </a:t>
            </a:r>
            <a:r>
              <a:rPr lang="en-US" sz="2200" dirty="0" err="1">
                <a:solidFill>
                  <a:schemeClr val="tx2"/>
                </a:solidFill>
              </a:rPr>
              <a:t>tcpdump</a:t>
            </a:r>
            <a:r>
              <a:rPr lang="en-US" sz="2200" dirty="0">
                <a:solidFill>
                  <a:schemeClr val="tx2"/>
                </a:solidFill>
              </a:rPr>
              <a:t> and </a:t>
            </a:r>
            <a:r>
              <a:rPr lang="en-US" sz="2200" dirty="0" err="1">
                <a:solidFill>
                  <a:schemeClr val="tx2"/>
                </a:solidFill>
              </a:rPr>
              <a:t>tshark</a:t>
            </a:r>
            <a:r>
              <a:rPr lang="en-US" sz="22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   2.On a dedicated network device to monitor multiple IoT devices efficiently.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•Future research will focus 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•Integrating ARP-PROBE with Intrusion Prevention Systems (IPS) for automatic attack prevention.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•Optimizing the model for high-traffic environments (smart cities, industrial IoT).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2"/>
                </a:solidFill>
              </a:rPr>
              <a:t>•Developing lightweight implementations for resource-constrained IoT devices</a:t>
            </a:r>
            <a:r>
              <a:rPr lang="en-US" sz="10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6299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771E481-B7C7-3009-3D02-09A76B7F637A}"/>
              </a:ext>
            </a:extLst>
          </p:cNvPr>
          <p:cNvSpPr txBox="1"/>
          <p:nvPr/>
        </p:nvSpPr>
        <p:spPr>
          <a:xfrm>
            <a:off x="1179226" y="1897380"/>
            <a:ext cx="9833548" cy="368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Using SHAP for Enhanced Interpretability: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•SHAP explains the impact of each feature on the model’s decisions.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•The most influential features include IP flags, frame length, and TCP flags.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•This improves trust in the system and clarifies the reasoning behind classifying packets as benign or spoofed.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98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515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MARYAM MAHMOUD IBRAHIM ABU IRTIMEH</dc:creator>
  <cp:lastModifiedBy>MARYAM MAHMOUD IBRAHIM ABU IRTIMEH</cp:lastModifiedBy>
  <cp:revision>3</cp:revision>
  <dcterms:created xsi:type="dcterms:W3CDTF">2025-03-08T23:59:42Z</dcterms:created>
  <dcterms:modified xsi:type="dcterms:W3CDTF">2025-03-09T00:45:57Z</dcterms:modified>
</cp:coreProperties>
</file>